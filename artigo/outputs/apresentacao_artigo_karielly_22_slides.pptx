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d592a1db34a0b" /><Relationship Type="http://schemas.openxmlformats.org/officeDocument/2006/relationships/extended-properties" Target="/docProps/app.xml" Id="R99a0c189201e451e" /><Relationship Type="http://schemas.openxmlformats.org/officeDocument/2006/relationships/officeDocument" Target="/ppt/presentation.xml" Id="R9283d099340a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9b3d0698994dd0"/>
  </p:sldMasterIdLst>
  <p:notesMasterIdLst>
    <p:notesMasterId xmlns:r="http://schemas.openxmlformats.org/officeDocument/2006/relationships" r:id="R61f6313d134147fe"/>
  </p:notesMasterIdLst>
  <p:sldIdLst>
    <p:sldId xmlns:r="http://schemas.openxmlformats.org/officeDocument/2006/relationships" id="256" r:id="Rd4a1e8ed349e4ccd"/>
    <p:sldId xmlns:r="http://schemas.openxmlformats.org/officeDocument/2006/relationships" id="257" r:id="R6af5de2c17884655"/>
    <p:sldId xmlns:r="http://schemas.openxmlformats.org/officeDocument/2006/relationships" id="258" r:id="R536bf753f8ee43c7"/>
    <p:sldId xmlns:r="http://schemas.openxmlformats.org/officeDocument/2006/relationships" id="259" r:id="Ra124436eef2a47d0"/>
    <p:sldId xmlns:r="http://schemas.openxmlformats.org/officeDocument/2006/relationships" id="260" r:id="Re8c38a704b714f7e"/>
    <p:sldId xmlns:r="http://schemas.openxmlformats.org/officeDocument/2006/relationships" id="261" r:id="R64e022a2feed4fc5"/>
    <p:sldId xmlns:r="http://schemas.openxmlformats.org/officeDocument/2006/relationships" id="262" r:id="R346cdae8e1f94c23"/>
    <p:sldId xmlns:r="http://schemas.openxmlformats.org/officeDocument/2006/relationships" id="263" r:id="R9858221477494d8b"/>
    <p:sldId xmlns:r="http://schemas.openxmlformats.org/officeDocument/2006/relationships" id="264" r:id="R411608b04e51420c"/>
    <p:sldId xmlns:r="http://schemas.openxmlformats.org/officeDocument/2006/relationships" id="265" r:id="Re47365ab41c94c50"/>
    <p:sldId xmlns:r="http://schemas.openxmlformats.org/officeDocument/2006/relationships" id="266" r:id="R79e3383469c641f5"/>
    <p:sldId xmlns:r="http://schemas.openxmlformats.org/officeDocument/2006/relationships" id="267" r:id="R634d6a75825a4d62"/>
    <p:sldId xmlns:r="http://schemas.openxmlformats.org/officeDocument/2006/relationships" id="268" r:id="R566734a843a941dc"/>
    <p:sldId xmlns:r="http://schemas.openxmlformats.org/officeDocument/2006/relationships" id="269" r:id="R0896c506ae4e4a8e"/>
    <p:sldId xmlns:r="http://schemas.openxmlformats.org/officeDocument/2006/relationships" id="270" r:id="Rfd7cbfe7b4c14658"/>
    <p:sldId xmlns:r="http://schemas.openxmlformats.org/officeDocument/2006/relationships" id="271" r:id="Rb393bb5b71b34a2c"/>
    <p:sldId xmlns:r="http://schemas.openxmlformats.org/officeDocument/2006/relationships" id="272" r:id="R55229167cb1c4943"/>
    <p:sldId xmlns:r="http://schemas.openxmlformats.org/officeDocument/2006/relationships" id="273" r:id="R696ecd2e0267404c"/>
    <p:sldId xmlns:r="http://schemas.openxmlformats.org/officeDocument/2006/relationships" id="274" r:id="Rfda806b154bd415a"/>
    <p:sldId xmlns:r="http://schemas.openxmlformats.org/officeDocument/2006/relationships" id="275" r:id="R4201b3e279d74394"/>
    <p:sldId xmlns:r="http://schemas.openxmlformats.org/officeDocument/2006/relationships" id="276" r:id="R27c455e1d09e490f"/>
    <p:sldId xmlns:r="http://schemas.openxmlformats.org/officeDocument/2006/relationships" id="277" r:id="R1a1e63fba41b40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be7c19afd44d6" /><Relationship Type="http://schemas.openxmlformats.org/officeDocument/2006/relationships/slideMaster" Target="/ppt/slideMasters/slideMaster1.xml" Id="R279b3d0698994dd0" /><Relationship Type="http://schemas.openxmlformats.org/officeDocument/2006/relationships/notesMaster" Target="/ppt/notesMasters/notesMaster1.xml" Id="R61f6313d134147fe" /><Relationship Type="http://schemas.openxmlformats.org/officeDocument/2006/relationships/presProps" Target="/ppt/presProps.xml" Id="R2f0d71f2e32e4879" /><Relationship Type="http://schemas.openxmlformats.org/officeDocument/2006/relationships/tableStyles" Target="/ppt/tableStyles.xml" Id="R825d6cc68e834443" /><Relationship Type="http://schemas.openxmlformats.org/officeDocument/2006/relationships/slide" Target="/ppt/slides/slide1.xml" Id="Rd4a1e8ed349e4ccd" /><Relationship Type="http://schemas.openxmlformats.org/officeDocument/2006/relationships/slide" Target="/ppt/slides/slide2.xml" Id="R6af5de2c17884655" /><Relationship Type="http://schemas.openxmlformats.org/officeDocument/2006/relationships/slide" Target="/ppt/slides/slide3.xml" Id="R536bf753f8ee43c7" /><Relationship Type="http://schemas.openxmlformats.org/officeDocument/2006/relationships/slide" Target="/ppt/slides/slide4.xml" Id="Ra124436eef2a47d0" /><Relationship Type="http://schemas.openxmlformats.org/officeDocument/2006/relationships/slide" Target="/ppt/slides/slide5.xml" Id="Re8c38a704b714f7e" /><Relationship Type="http://schemas.openxmlformats.org/officeDocument/2006/relationships/slide" Target="/ppt/slides/slide6.xml" Id="R64e022a2feed4fc5" /><Relationship Type="http://schemas.openxmlformats.org/officeDocument/2006/relationships/slide" Target="/ppt/slides/slide7.xml" Id="R346cdae8e1f94c23" /><Relationship Type="http://schemas.openxmlformats.org/officeDocument/2006/relationships/slide" Target="/ppt/slides/slide8.xml" Id="R9858221477494d8b" /><Relationship Type="http://schemas.openxmlformats.org/officeDocument/2006/relationships/slide" Target="/ppt/slides/slide9.xml" Id="R411608b04e51420c" /><Relationship Type="http://schemas.openxmlformats.org/officeDocument/2006/relationships/slide" Target="/ppt/slides/slide10.xml" Id="Re47365ab41c94c50" /><Relationship Type="http://schemas.openxmlformats.org/officeDocument/2006/relationships/slide" Target="/ppt/slides/slide11.xml" Id="R79e3383469c641f5" /><Relationship Type="http://schemas.openxmlformats.org/officeDocument/2006/relationships/slide" Target="/ppt/slides/slide12.xml" Id="R634d6a75825a4d62" /><Relationship Type="http://schemas.openxmlformats.org/officeDocument/2006/relationships/slide" Target="/ppt/slides/slide13.xml" Id="R566734a843a941dc" /><Relationship Type="http://schemas.openxmlformats.org/officeDocument/2006/relationships/slide" Target="/ppt/slides/slide14.xml" Id="R0896c506ae4e4a8e" /><Relationship Type="http://schemas.openxmlformats.org/officeDocument/2006/relationships/slide" Target="/ppt/slides/slide15.xml" Id="Rfd7cbfe7b4c14658" /><Relationship Type="http://schemas.openxmlformats.org/officeDocument/2006/relationships/slide" Target="/ppt/slides/slide16.xml" Id="Rb393bb5b71b34a2c" /><Relationship Type="http://schemas.openxmlformats.org/officeDocument/2006/relationships/slide" Target="/ppt/slides/slide17.xml" Id="R55229167cb1c4943" /><Relationship Type="http://schemas.openxmlformats.org/officeDocument/2006/relationships/slide" Target="/ppt/slides/slide18.xml" Id="R696ecd2e0267404c" /><Relationship Type="http://schemas.openxmlformats.org/officeDocument/2006/relationships/slide" Target="/ppt/slides/slide19.xml" Id="Rfda806b154bd415a" /><Relationship Type="http://schemas.openxmlformats.org/officeDocument/2006/relationships/slide" Target="/ppt/slides/slide20.xml" Id="R4201b3e279d74394" /><Relationship Type="http://schemas.openxmlformats.org/officeDocument/2006/relationships/slide" Target="/ppt/slides/slide21.xml" Id="R27c455e1d09e490f" /><Relationship Type="http://schemas.openxmlformats.org/officeDocument/2006/relationships/slide" Target="/ppt/slides/slide22.xml" Id="R1a1e63fba41b40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f9c3efed1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727903f5574e30" /><Relationship Type="http://schemas.openxmlformats.org/officeDocument/2006/relationships/notesMaster" Target="/ppt/notesMasters/notesMaster1.xml" Id="R79dceaff323145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c75c6840ab4a3f" /><Relationship Type="http://schemas.openxmlformats.org/officeDocument/2006/relationships/notesMaster" Target="/ppt/notesMasters/notesMaster1.xml" Id="R9734fb891ed8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121cbe8ded49ec" /><Relationship Type="http://schemas.openxmlformats.org/officeDocument/2006/relationships/notesMaster" Target="/ppt/notesMasters/notesMaster1.xml" Id="R170ca454733e4e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97aa9db2e54caf" /><Relationship Type="http://schemas.openxmlformats.org/officeDocument/2006/relationships/notesMaster" Target="/ppt/notesMasters/notesMaster1.xml" Id="R1f60a51e608a43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bbf5291ad24921" /><Relationship Type="http://schemas.openxmlformats.org/officeDocument/2006/relationships/notesMaster" Target="/ppt/notesMasters/notesMaster1.xml" Id="R128fcfb9516347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6a22c89f4c4785" /><Relationship Type="http://schemas.openxmlformats.org/officeDocument/2006/relationships/notesMaster" Target="/ppt/notesMasters/notesMaster1.xml" Id="R704aea7c21524b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6a360837b9496e" /><Relationship Type="http://schemas.openxmlformats.org/officeDocument/2006/relationships/notesMaster" Target="/ppt/notesMasters/notesMaster1.xml" Id="Rb5d21a26e3fc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2f938e28c4c41" /><Relationship Type="http://schemas.openxmlformats.org/officeDocument/2006/relationships/notesMaster" Target="/ppt/notesMasters/notesMaster1.xml" Id="Raec467a942914b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50b912f89a44ec" /><Relationship Type="http://schemas.openxmlformats.org/officeDocument/2006/relationships/notesMaster" Target="/ppt/notesMasters/notesMaster1.xml" Id="Rc05a3cb594464a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73301058aa4c0f" /><Relationship Type="http://schemas.openxmlformats.org/officeDocument/2006/relationships/notesMaster" Target="/ppt/notesMasters/notesMaster1.xml" Id="R764ad66093874f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660b71cc05472f" /><Relationship Type="http://schemas.openxmlformats.org/officeDocument/2006/relationships/notesMaster" Target="/ppt/notesMasters/notesMaster1.xml" Id="Re6b3d1d353e643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6b6bf6f8fb4bcf" /><Relationship Type="http://schemas.openxmlformats.org/officeDocument/2006/relationships/notesMaster" Target="/ppt/notesMasters/notesMaster1.xml" Id="R49e8b986df4642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794faa027c4674" /><Relationship Type="http://schemas.openxmlformats.org/officeDocument/2006/relationships/notesMaster" Target="/ppt/notesMasters/notesMaster1.xml" Id="R15563a00b93b44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52b1ee4856414a" /><Relationship Type="http://schemas.openxmlformats.org/officeDocument/2006/relationships/notesMaster" Target="/ppt/notesMasters/notesMaster1.xml" Id="R43e71fd9fae14a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1fecced94c4d15" /><Relationship Type="http://schemas.openxmlformats.org/officeDocument/2006/relationships/notesMaster" Target="/ppt/notesMasters/notesMaster1.xml" Id="Ra66dd32c82974c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90b393ab2f4b47" /><Relationship Type="http://schemas.openxmlformats.org/officeDocument/2006/relationships/notesMaster" Target="/ppt/notesMasters/notesMaster1.xml" Id="R5cb6ef51168045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e44f16f40a4186" /><Relationship Type="http://schemas.openxmlformats.org/officeDocument/2006/relationships/notesMaster" Target="/ppt/notesMasters/notesMaster1.xml" Id="R750a1f85c6614e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8de0b1badf49d6" /><Relationship Type="http://schemas.openxmlformats.org/officeDocument/2006/relationships/notesMaster" Target="/ppt/notesMasters/notesMaster1.xml" Id="R557185e0fcc64d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e2de383f594fee" /><Relationship Type="http://schemas.openxmlformats.org/officeDocument/2006/relationships/notesMaster" Target="/ppt/notesMasters/notesMaster1.xml" Id="R40d7c55f45a84c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6d895f0fe5419d" /><Relationship Type="http://schemas.openxmlformats.org/officeDocument/2006/relationships/notesMaster" Target="/ppt/notesMasters/notesMaster1.xml" Id="R0b793363b0eb44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3aac375aed43a5" /><Relationship Type="http://schemas.openxmlformats.org/officeDocument/2006/relationships/notesMaster" Target="/ppt/notesMasters/notesMaster1.xml" Id="R0e5a7220c0e44e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71dff5c89b4e1c" /><Relationship Type="http://schemas.openxmlformats.org/officeDocument/2006/relationships/notesMaster" Target="/ppt/notesMasters/notesMaster1.xml" Id="R900bfc3514af4c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tema como uma solução de apoio à triagem. Deixe claro desde o início que o método não é diagnóstico automático.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os números globais do artigo para abrir a motivação. Relacione acesso, rastreamento e necessidade de suporte.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papel da citologia cervical e conecte a pipeline computacional ao processo de rastreamento.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a ideia de apoio computacional. A frase-chave é: priorizar revisão, não substituir especialista.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dificuldade não está só na rede neural: está também na natureza das imagens convencionais.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um ponto metodológico central. Mostre que separar por célula não basta quando os recortes são visualmente correlatos.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 claro que o modelo retorna uma probabilidade de anormalidade. A decisão final depende do limiar.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as contribuições como uma resposta às lacunas: validação, operação e interpretação.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agrupamento por imagem é uma solução metodológica pragmática, mas não substitui separação por paciente.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Diga que Bethesda entra como linguagem de interpretação. O modelo não é multiclasse neste artigo.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Enfatize a diferença entre detectar anormalidade e classificar subtipo.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cada bloco rapidamente. Destaque que validação e teste não recebem os aumentos de treino.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para mostrar que o desenho experimental foi controlado por imagem-fonte.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avaliação primária é a validação cruzada agrupada, não apenas a partição retida.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arquitetura de forma objetiva. A ResNet50 aparece depois como comparação exploratória.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este slide breve. A amostragem ponderada equilibra exposição no treino sem alterar validação/teste.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slide principal dos resultados. Prepare a transição para os folds e limiares.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ranquear bem não garante automaticamente o ponto de decisão ideal.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essa troca pode ser aceitável em triagem apenas com revisão humana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Cuidado com a interpretação. A vantagem clara da ConvNeXt-Tiny está no ranqueamento por AUC.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que ASC-US é limítrofe. Evite superinterpretar SCC por ter poucas células.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com equilíbrio: resultados fortes, protocolo cuidadoso e limitações explícitas antes de qualquer uso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817bd8d5b4b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6f29304c54662" /><Relationship Type="http://schemas.openxmlformats.org/officeDocument/2006/relationships/slideLayout" Target="/ppt/slideLayouts/slideLayout1.xml" Id="R8386069a5fb549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6069a5fb549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203e027624321" /><Relationship Type="http://schemas.openxmlformats.org/officeDocument/2006/relationships/notesSlide" Target="/ppt/notesSlides/notesSlide1.xml" Id="Rc00d8d1862e6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afba89aeb42b5" /><Relationship Type="http://schemas.openxmlformats.org/officeDocument/2006/relationships/notesSlide" Target="/ppt/notesSlides/notesSlide2.xml" Id="R8ab22c01960f47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b8d74cf444d71" /><Relationship Type="http://schemas.openxmlformats.org/officeDocument/2006/relationships/notesSlide" Target="/ppt/notesSlides/notesSlide3.xml" Id="R0827898b408a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83d9948ac40c9" /><Relationship Type="http://schemas.openxmlformats.org/officeDocument/2006/relationships/notesSlide" Target="/ppt/notesSlides/notesSlide4.xml" Id="R17f27021f3c8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0ac07f861496e" /><Relationship Type="http://schemas.openxmlformats.org/officeDocument/2006/relationships/notesSlide" Target="/ppt/notesSlides/notesSlide5.xml" Id="R47e685f2a96847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beb8758a84b46" /><Relationship Type="http://schemas.openxmlformats.org/officeDocument/2006/relationships/notesSlide" Target="/ppt/notesSlides/notesSlide6.xml" Id="Rf31f60446a5d47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27427b1d94427" /><Relationship Type="http://schemas.openxmlformats.org/officeDocument/2006/relationships/notesSlide" Target="/ppt/notesSlides/notesSlide7.xml" Id="R4c6cb465d8ad4e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becc4b1b84779" /><Relationship Type="http://schemas.openxmlformats.org/officeDocument/2006/relationships/notesSlide" Target="/ppt/notesSlides/notesSlide8.xml" Id="R307dccc52d0141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d81c2bf514aed" /><Relationship Type="http://schemas.openxmlformats.org/officeDocument/2006/relationships/notesSlide" Target="/ppt/notesSlides/notesSlide9.xml" Id="Rcf916158d3fc45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2d353c8764f51" /><Relationship Type="http://schemas.openxmlformats.org/officeDocument/2006/relationships/chart" Target="/ppt/slides/charts/chart1.xml" Id="R7e1cf5b74516427a" /><Relationship Type="http://schemas.openxmlformats.org/officeDocument/2006/relationships/notesSlide" Target="/ppt/notesSlides/notesSlide10.xml" Id="Ra35c39733e494b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7e27480f7401b" /><Relationship Type="http://schemas.openxmlformats.org/officeDocument/2006/relationships/notesSlide" Target="/ppt/notesSlides/notesSlide11.xml" Id="Rc4589d1e5e964f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524e0af8a4c52" /><Relationship Type="http://schemas.openxmlformats.org/officeDocument/2006/relationships/notesSlide" Target="/ppt/notesSlides/notesSlide12.xml" Id="Rfa2dec95276340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d8ad06f0b4cd3" /><Relationship Type="http://schemas.openxmlformats.org/officeDocument/2006/relationships/notesSlide" Target="/ppt/notesSlides/notesSlide13.xml" Id="R7d5b8278cfab4b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f3d3cb2d54843" /><Relationship Type="http://schemas.openxmlformats.org/officeDocument/2006/relationships/notesSlide" Target="/ppt/notesSlides/notesSlide14.xml" Id="R0a9c0849531b4f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d5c60975343f7" /><Relationship Type="http://schemas.openxmlformats.org/officeDocument/2006/relationships/notesSlide" Target="/ppt/notesSlides/notesSlide15.xml" Id="R62da4764ccd34a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43b1c18fb43c6" /><Relationship Type="http://schemas.openxmlformats.org/officeDocument/2006/relationships/notesSlide" Target="/ppt/notesSlides/notesSlide16.xml" Id="R871adf8065624f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ab5446f6543e3" /><Relationship Type="http://schemas.openxmlformats.org/officeDocument/2006/relationships/notesSlide" Target="/ppt/notesSlides/notesSlide17.xml" Id="R82e1b655939249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cccf85165408a" /><Relationship Type="http://schemas.openxmlformats.org/officeDocument/2006/relationships/chart" Target="/ppt/slides/charts/chart2.xml" Id="Ra2facaaa2ef4455a" /><Relationship Type="http://schemas.openxmlformats.org/officeDocument/2006/relationships/notesSlide" Target="/ppt/notesSlides/notesSlide18.xml" Id="R76ff813048664e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e2e03eb684285" /><Relationship Type="http://schemas.openxmlformats.org/officeDocument/2006/relationships/notesSlide" Target="/ppt/notesSlides/notesSlide19.xml" Id="R24a638e65a0f49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ad44f33c41bd" /><Relationship Type="http://schemas.openxmlformats.org/officeDocument/2006/relationships/notesSlide" Target="/ppt/notesSlides/notesSlide20.xml" Id="Rf35a2c5392ef43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1278e71ef4d80" /><Relationship Type="http://schemas.openxmlformats.org/officeDocument/2006/relationships/chart" Target="/ppt/slides/charts/chart3.xml" Id="Rf5991d26da49417c" /><Relationship Type="http://schemas.openxmlformats.org/officeDocument/2006/relationships/notesSlide" Target="/ppt/notesSlides/notesSlide21.xml" Id="R879b2b9bb71f4c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3731c3d104e9d" /><Relationship Type="http://schemas.openxmlformats.org/officeDocument/2006/relationships/notesSlide" Target="/ppt/notesSlides/notesSlide22.xml" Id="R716c7b8ebce1474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Células anormais</c:v>
          </c:tx>
          <c:spPr>
            <a:solidFill xmlns:a="http://schemas.openxmlformats.org/drawingml/2006/main">
              <a:srgbClr val="E4572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ASC-US</c:v>
              </c:pt>
              <c:pt idx="1">
                <c:v>LSIL</c:v>
              </c:pt>
              <c:pt idx="2">
                <c:v>ASC-H</c:v>
              </c:pt>
              <c:pt idx="3">
                <c:v>HSIL</c:v>
              </c:pt>
              <c:pt idx="4">
                <c:v>SCC</c:v>
              </c:pt>
            </c:strLit>
          </c:cat>
          <c:val>
            <c:numLit>
              <c:formatCode>General</c:formatCode>
              <c:ptCount val="5"/>
              <c:pt idx="0">
                <c:v>606</c:v>
              </c:pt>
              <c:pt idx="1">
                <c:v>1360</c:v>
              </c:pt>
              <c:pt idx="2">
                <c:v>925</c:v>
              </c:pt>
              <c:pt idx="3">
                <c:v>1703</c:v>
              </c:pt>
              <c:pt idx="4">
                <c:v>161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A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Sensibilidade</c:v>
          </c:tx>
          <c:spPr>
            <a:solidFill xmlns:a="http://schemas.openxmlformats.org/drawingml/2006/main">
              <a:srgbClr val="E4572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Fold 1</c:v>
              </c:pt>
              <c:pt idx="1">
                <c:v>Folds 2-3</c:v>
              </c:pt>
            </c:strLit>
          </c:cat>
          <c:val>
            <c:numLit>
              <c:formatCode>General</c:formatCode>
              <c:ptCount val="2"/>
              <c:pt idx="0">
                <c:v>0.8253</c:v>
              </c:pt>
              <c:pt idx="1">
                <c:v>0.94</c:v>
              </c:pt>
            </c:numLit>
          </c:val>
        </c:ser>
        <c:ser>
          <c:idx val="1"/>
          <c:order val="1"/>
          <c:tx>
            <c:v>Especificidade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Fold 1</c:v>
              </c:pt>
              <c:pt idx="1">
                <c:v>Folds 2-3</c:v>
              </c:pt>
            </c:strLit>
          </c:cat>
          <c:val>
            <c:numLit>
              <c:formatCode>General</c:formatCode>
              <c:ptCount val="2"/>
              <c:pt idx="0">
                <c:v>0.9681</c:v>
              </c:pt>
              <c:pt idx="1">
                <c:v>0.89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A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8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/>
          </a:pPr>
        </a:p>
      </c:txPr>
    </c:legend>
    <c:plotVisOnly val="1"/>
  </c:chart>
  <c:spPr>
    <a:solidFill xmlns:a="http://schemas.openxmlformats.org/drawingml/2006/main">
      <a:srgbClr val="F7F8FA"/>
    </a:solidFill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Acerto binário (%)</c:v>
          </c:tx>
          <c:spPr>
            <a:solidFill xmlns:a="http://schemas.openxmlformats.org/drawingml/2006/main">
              <a:srgbClr val="E4572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NILM</c:v>
              </c:pt>
              <c:pt idx="1">
                <c:v>ASC-US</c:v>
              </c:pt>
              <c:pt idx="2">
                <c:v>LSIL</c:v>
              </c:pt>
              <c:pt idx="3">
                <c:v>ASC-H</c:v>
              </c:pt>
              <c:pt idx="4">
                <c:v>HSIL</c:v>
              </c:pt>
              <c:pt idx="5">
                <c:v>SCC</c:v>
              </c:pt>
            </c:strLit>
          </c:cat>
          <c:val>
            <c:numLit>
              <c:formatCode>General</c:formatCode>
              <c:ptCount val="6"/>
              <c:pt idx="0">
                <c:v>92.8</c:v>
              </c:pt>
              <c:pt idx="1">
                <c:v>81.7</c:v>
              </c:pt>
              <c:pt idx="2">
                <c:v>94.5</c:v>
              </c:pt>
              <c:pt idx="3">
                <c:v>90.2</c:v>
              </c:pt>
              <c:pt idx="4">
                <c:v>99.4</c:v>
              </c:pt>
              <c:pt idx="5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A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B1073-B79B-4C9E-917E-724C5DC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96002-F9AA-4463-9A41-D38652ED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7CF2F-9D33-4EBF-8B9E-8A3E504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01884-1110-4578-B8BE-968F6769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F2D9-EF0E-412F-9480-0674B981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ConvNeXt-Tiny em esfregaços convencionais com particionamento por imagem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81211-A3E1-44BD-852E-276F0EED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033"/>
                </a:solidFill>
              </a:defRPr>
            </a:pPr>
            <a:r>
              <a:rPr sz="3675" b="1">
                <a:solidFill>
                  <a:srgbClr val="102033"/>
                </a:solidFill>
              </a:rPr>
              <a:t>Triagem binária de células cervicais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9E6CB-E8D7-4433-B24C-A954075C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875"/>
                </a:solidFill>
              </a:defRPr>
            </a:pPr>
            <a:r>
              <a:rPr sz="1725" b="0">
                <a:solidFill>
                  <a:srgbClr val="5E6875"/>
                </a:solidFill>
              </a:rPr>
              <a:t>Um estudo de apoio à priorização de células suspeitas em citologia cervical convencional.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FDCCE-EC01-4EBD-B6E7-47DC96B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Karielly de Carvalho | UFPI | 15 a 20 minutos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F8323-2714-4550-A499-D143ED68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23950"/>
            <a:ext cx="2819400" cy="40005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70AF7-5F4C-4B15-B40D-D4D4FB9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240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9C0AA-30C0-45B1-8C86-A33EBCF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CFAF9-0001-4AF0-81AD-2AA6AF21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BB0E6-AC67-47AE-8C1E-4A6D04B3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2374900"/>
            <a:ext cx="393700" cy="39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55258-86C5-43C5-8C20-B4C6BF7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4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0258B-C9AA-4640-97C7-16AF5F99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95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38BF1-A544-4254-890B-FCEF9259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81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82EB4-C164-4681-9130-8B9EDDA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050" y="38608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792A6-B889-4CFB-8A9C-66FE966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4A"/>
                </a:solidFill>
              </a:defRPr>
            </a:pPr>
            <a:r>
              <a:rPr sz="1650" b="1">
                <a:solidFill>
                  <a:srgbClr val="0B4F4A"/>
                </a:solidFill>
              </a:rPr>
              <a:t>CRIC Cervix</a:t>
            </a:r>
          </a:p>
          <a:p xmlns:a="http://schemas.openxmlformats.org/drawingml/2006/main">
            <a:pPr algn="ctr">
              <a:defRPr sz="1650" b="1">
                <a:solidFill>
                  <a:srgbClr val="0B4F4A"/>
                </a:solidFill>
              </a:defRPr>
            </a:pPr>
            <a:r>
              <a:rPr sz="1650" b="1">
                <a:solidFill>
                  <a:srgbClr val="0B4F4A"/>
                </a:solidFill>
              </a:rPr>
              <a:t>+</a:t>
            </a:r>
          </a:p>
          <a:p xmlns:a="http://schemas.openxmlformats.org/drawingml/2006/main">
            <a:pPr algn="ctr">
              <a:defRPr sz="1650" b="1">
                <a:solidFill>
                  <a:srgbClr val="0B4F4A"/>
                </a:solidFill>
              </a:defRPr>
            </a:pPr>
            <a:r>
              <a:rPr sz="1650" b="1">
                <a:solidFill>
                  <a:srgbClr val="0B4F4A"/>
                </a:solidFill>
              </a:rPr>
              <a:t>ConvNeXt-Tiny</a:t>
            </a:r>
          </a:p>
        </p:txBody>
      </p:sp>
    </p:spTree>
    <p:extLst>
      <p:ext uri="{BB962C8B-B14F-4D97-AF65-F5344CB8AC3E}">
        <p14:creationId xmlns:p14="http://schemas.microsoft.com/office/powerpoint/2010/main" val="17483270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BE0443-3E8B-469F-833A-81EC18E5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E908B-A41D-40E2-B954-F603D5A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B95DF-C7EB-4777-B074-BD07132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03E81-E921-48CE-95E7-F08D288D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79A28-6C64-494B-B4F4-DAA66F37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156DD-E693-46B5-A082-CCFEBA00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 problema é relevante em escala global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4A5D0-3D8E-46E4-8E6B-A2E2259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câncer do colo do útero segue entre as principais causas evitáveis de morbidade e mortalidade.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3C4CB-B10B-479B-96BA-54F22D6C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A479C-14AC-4640-950B-12BF9237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86E60-4ABA-47ED-8C9F-9BE604EC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D74B0-4CA0-48E0-BD07-734191E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4572E"/>
                </a:solidFill>
              </a:defRPr>
            </a:pPr>
            <a:r>
              <a:rPr sz="2775" b="1">
                <a:solidFill>
                  <a:srgbClr val="E4572E"/>
                </a:solidFill>
              </a:rPr>
              <a:t>604 mil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D5EDE-E0E0-4FF6-87ED-437D4611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novos casos globais em 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6DE2C-020B-4B53-9186-3CACACDF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D394D-EBE4-45DF-9BAF-38698672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342 mil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E0D6C-E117-4997-B9FD-DF42FB0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mortes globais em 2020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EC7E3-6027-46F3-BED5-D57F2DE2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4C4B5-275C-4569-9C35-C533E0F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033"/>
                </a:solidFill>
              </a:defRPr>
            </a:pPr>
            <a:r>
              <a:rPr sz="2175" b="1">
                <a:solidFill>
                  <a:srgbClr val="102033"/>
                </a:solidFill>
              </a:rPr>
              <a:t>maior carga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56426-E228-4443-9FC5-553B9AB9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em regiões com restrição de acesso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7A0CC-80F4-4DCD-A8B7-1322E14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82536-4AFA-4DB3-90EB-AE9CA293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B5FBD-CF95-467E-A2DB-73E3E04C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Apoiar o rastreamento pode ajudar a priorizar revisão onde recursos humanos são limitados.</a:t>
            </a:r>
          </a:p>
        </p:txBody>
      </p:sp>
    </p:spTree>
    <p:extLst>
      <p:ext uri="{BB962C8B-B14F-4D97-AF65-F5344CB8AC3E}">
        <p14:creationId xmlns:p14="http://schemas.microsoft.com/office/powerpoint/2010/main" val="6037023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C6218-9066-45A1-9AAB-D23D0501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610E5-564A-4965-B07B-86B73EB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AADC7-81DD-46E9-805A-58ED2189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33918-3DF4-4595-A21C-9FB55A9A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F3DF6-9BB6-497F-A2E4-460AC1F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6E104-ED27-4A6C-A144-7FDCAD0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citologia ainda é peça importante do rastreamento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A5ED5-040E-40DC-99D9-8CA3595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leitura de lâminas permite identificar alterações morfológicas celulares que podem indicar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3D251-31AE-4433-B793-08A48EE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38BDD-57EF-4FD4-A602-BFCD536C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71ACA-F1F7-4303-9E15-B0402BF7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F76A6-C31A-43F9-BBFA-8E2064B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Coleta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03AB1-0EA2-4D1F-A4E5-41CDA00D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710A3-B581-49E9-98C4-D0BAD80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A01A8-30F8-4386-8EE3-8377ACB3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Lâmina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FFB06-5CCD-4F87-B431-D3B82C1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A6947-5E63-4F46-AD6F-72A376F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63B15-0460-440E-90D4-DA0A0577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Leitura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0173E-866D-42B3-A766-1BAB858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8B672-CE8A-44F6-933A-4F40BE9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F0810-9993-46DB-9EBA-F0AC4D45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4572E"/>
                </a:solidFill>
              </a:defRPr>
            </a:pPr>
            <a:r>
              <a:rPr sz="1650" b="1">
                <a:solidFill>
                  <a:srgbClr val="E4572E"/>
                </a:solidFill>
              </a:rPr>
              <a:t>Priorização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053B6-43D7-4595-9CDB-BEAE242F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EEE1C-D95A-414B-B4E9-86B067CC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CF514-9312-46E2-A3FB-60078FAC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O trabalho atua no apoio à leitura, não na substituição do fluxo clínico.</a:t>
            </a:r>
          </a:p>
        </p:txBody>
      </p:sp>
    </p:spTree>
    <p:extLst>
      <p:ext uri="{BB962C8B-B14F-4D97-AF65-F5344CB8AC3E}">
        <p14:creationId xmlns:p14="http://schemas.microsoft.com/office/powerpoint/2010/main" val="1538784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593D3-FBD3-4B52-8C66-9BB5A9DD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05C8C-5137-4F40-80F5-AAB5E038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727EC-5FCA-40B7-BB77-2246D416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B4147-D236-41B8-8991-38164C3A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34004-653B-4AA7-9664-91A5E3C8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18E1E-657F-4131-BDCB-1030534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leitura manual é trabalhosa e depende de especialistas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911F5-B7AE-4B16-9182-EBE3357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desafio cresce quando as alterações são sutis, especialmente nas categorias limítrofes.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B8378-94FB-437C-82C4-54E4CEDE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32FBF-648C-4DF8-9B7E-09BD1B21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525BA-31EE-43AC-B923-04C03504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46672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556EB-4A79-40A1-9B09-572F9FC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76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1F2A6-268F-4781-A94E-1EDEC13B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Na prática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F602D-92E8-4D6B-841A-1995CCE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39243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A revisão de lâminas exige atenção, experiência e tempo. Em cenários com grande volume, casos sutis podem exigir priorização.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19140-D845-4DCD-A963-70C0CF3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46672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25DF2-F05F-4399-8FD2-BD87C019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76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3F35E-7841-4ED6-8F37-5D16668B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572E"/>
                </a:solidFill>
              </a:defRPr>
            </a:pPr>
            <a:r>
              <a:rPr sz="1875" b="1">
                <a:solidFill>
                  <a:srgbClr val="E4572E"/>
                </a:solidFill>
              </a:rPr>
              <a:t>No artigo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D18F7-A8C0-419E-9812-21E18C0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39243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A proposta é estimar P(anormal) para apoiar a triagem e encaminhar células suspeitas para revisão humana.</a:t>
            </a:r>
          </a:p>
        </p:txBody>
      </p:sp>
    </p:spTree>
    <p:extLst>
      <p:ext uri="{BB962C8B-B14F-4D97-AF65-F5344CB8AC3E}">
        <p14:creationId xmlns:p14="http://schemas.microsoft.com/office/powerpoint/2010/main" val="19286564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039CD-527F-459B-B398-6531FA8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AB57E-B528-4915-8B67-55161C8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D6688-DBB7-4300-856E-53DDA602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5415F-7FAA-495F-9B94-6D9797B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6CB98-9BA6-4765-98F1-B7BB865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297D6-DE9A-4279-93EC-81DDAB9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Imagens convencionais são visualmente heterogêneas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79FA-5302-455E-A8F2-A5B95FA4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CRIC Cervix preserva desafios de lâminas reais, como fundo, coloração, textura, sobreposição e inflamação.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2B1CB-4C12-4AFA-ABB0-920912EE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8FB7C-FC9D-4C92-AB89-D3DEDF73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21BB7-AA76-4E1E-9CAA-BF96D837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724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685D5-91B4-42DD-9D06-0382C978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Coloração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D6178-192A-4CEE-9F14-0F5F699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2724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BE2BD-98BB-467C-8619-D5C1A6F9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Textura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BC9B3-CFC4-48F2-827F-49B359B4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2724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9DCA8-368F-4F78-87DA-098CDC95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Fundo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F3156-605E-4E12-B214-74106FB0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724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31D7E-AD88-4893-8A74-7FBAAE5D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Artefatos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FA427-4028-460C-B5BD-F8DA310A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724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75CFE-BA44-4D60-A257-B4948DD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572E"/>
                </a:solidFill>
              </a:defRPr>
            </a:pPr>
            <a:r>
              <a:rPr sz="1800" b="1">
                <a:solidFill>
                  <a:srgbClr val="E4572E"/>
                </a:solidFill>
              </a:rPr>
              <a:t>Sobreposição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CDC3B-13B1-4A1E-8238-E77C2C48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2724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3B563-C3BD-4D1E-9BD1-8E63880F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Inflamação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AE096-E0C0-470C-9BF5-FF6C288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8E349-E044-48A9-A08F-6F153A8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E0CEF-A8B5-413B-BCAE-A3D1932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Por isso, o protocolo precisa avaliar generalização com cuidado.</a:t>
            </a:r>
          </a:p>
        </p:txBody>
      </p:sp>
    </p:spTree>
    <p:extLst>
      <p:ext uri="{BB962C8B-B14F-4D97-AF65-F5344CB8AC3E}">
        <p14:creationId xmlns:p14="http://schemas.microsoft.com/office/powerpoint/2010/main" val="8680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83955-F22D-4185-A07C-A997DE37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BD7E3-85EB-4BEF-AA21-55ADC47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98D7D-1A61-4BAF-9863-4449D979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E0072-3E70-4318-A2A5-78BE2A7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BE8A2-6ABE-437F-908F-B4236D66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01203-061B-4E64-994C-F20D0627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 risco de vazamento está na imagem-fonte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FDA77-712E-49A6-9DC9-7663FFB4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Recortes da mesma imagem compartilham aquisição, coloração, fundo e artefatos.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AFBA4-9AE2-45AD-A315-259D6F72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539F5-68B7-4B03-B56E-084CA710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6387E-0BD9-45AA-BE05-3F8F4A9D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34756-E928-49AE-8124-F19C95E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Treino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DD806-7FEC-4423-BA45-AFEEC25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Imagem A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recortes correlatos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3E163-87A7-422B-9491-A5EAEA0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4572E"/>
                </a:solidFill>
              </a:defRPr>
            </a:pPr>
            <a:r>
              <a:rPr sz="3300" b="1">
                <a:solidFill>
                  <a:srgbClr val="E4572E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992AC-0E61-47BF-AED2-79EE6447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38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087A2-77D4-48FD-9C82-495ABE6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Teste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71A87-9F74-473F-B93C-A7D3E788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Imagem A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não deve reaparecer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76F38-3E72-4AA4-B7E1-904B1C66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524000" cy="17526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70AE9-73DD-4D49-B066-1DA74BC2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1181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por grupo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641D4-7790-4647-9517-F389AEE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6FFA8-6756-4AFC-B74B-2E6BEEFD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DD7F9-13A4-45F5-9A16-382C83B5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Se células da mesma imagem aparecem em treino e teste, a estimativa pode ficar otimista.</a:t>
            </a:r>
          </a:p>
        </p:txBody>
      </p:sp>
    </p:spTree>
    <p:extLst>
      <p:ext uri="{BB962C8B-B14F-4D97-AF65-F5344CB8AC3E}">
        <p14:creationId xmlns:p14="http://schemas.microsoft.com/office/powerpoint/2010/main" val="3504329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9B232-3683-4ADE-A500-5DEBB0F0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0889B-FD7B-447C-97D6-219D4E34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9AEEC-8935-489D-ABA8-5E4FD3CE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DF16A-FC2B-4266-B091-301C9F2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OBJETIVO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37B97-AB8C-4F01-87B4-28ACE9EF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E2579-30A2-4E28-B6B4-591FBF11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Objetivo: classificar normal versus anormal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8092F-0BD4-4015-9527-CC59E07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tarefa foi formulada como triagem binária de células da CRIC Cervix.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F233C-B41A-410B-8F2F-42A5E7C4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4AB60-DDA9-4D46-B277-2B5957D7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BEDF4-1330-4EF6-B586-C877B59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8096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1FBE7-B59D-4BEF-BC41-118AFECB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033"/>
                </a:solidFill>
              </a:defRPr>
            </a:pPr>
            <a:r>
              <a:rPr sz="2325" b="1">
                <a:solidFill>
                  <a:srgbClr val="102033"/>
                </a:solidFill>
              </a:rPr>
              <a:t>Avaliar se a ConvNeXt-Tiny consegue priorizar células suspeitas em esfregaços convencionais usando separação por imagem-fonte.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0D36A-C340-4ED7-9C75-7C06083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1952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0754A-776C-4685-B41D-34FF01C2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4A"/>
                </a:solidFill>
              </a:defRPr>
            </a:pPr>
            <a:r>
              <a:rPr sz="1275" b="1">
                <a:solidFill>
                  <a:srgbClr val="0B4F4A"/>
                </a:solidFill>
              </a:rPr>
              <a:t>CRIC Cervix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AB682-241A-426F-8058-3B17444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43400"/>
            <a:ext cx="1952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ACEBE-EE0C-45FD-8211-BB69606E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1485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4A"/>
                </a:solidFill>
              </a:defRPr>
            </a:pPr>
            <a:r>
              <a:rPr sz="1275" b="1">
                <a:solidFill>
                  <a:srgbClr val="0B4F4A"/>
                </a:solidFill>
              </a:rPr>
              <a:t>ConvNeXt-Tiny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8CE17-392F-4867-ABB6-0934E166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43400"/>
            <a:ext cx="1952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9C675-171D-487C-8081-0B1D0842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4572E"/>
                </a:solidFill>
              </a:defRPr>
            </a:pPr>
            <a:r>
              <a:rPr sz="1275" b="1">
                <a:solidFill>
                  <a:srgbClr val="E4572E"/>
                </a:solidFill>
              </a:rPr>
              <a:t>P(anormal)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A6D33-E012-4070-87E1-9DF1F3A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43400"/>
            <a:ext cx="1952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A6410-D4B8-4AB4-BEE1-97EC3F2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1485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F4A"/>
                </a:solidFill>
              </a:defRPr>
            </a:pPr>
            <a:r>
              <a:rPr sz="1275" b="1">
                <a:solidFill>
                  <a:srgbClr val="0B4F4A"/>
                </a:solidFill>
              </a:rPr>
              <a:t>limiar operacional</a:t>
            </a:r>
          </a:p>
        </p:txBody>
      </p:sp>
    </p:spTree>
    <p:extLst>
      <p:ext uri="{BB962C8B-B14F-4D97-AF65-F5344CB8AC3E}">
        <p14:creationId xmlns:p14="http://schemas.microsoft.com/office/powerpoint/2010/main" val="3087821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04C48-2D54-48B3-9333-56C7D8D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DCB4D-39A6-4E75-8F49-329F3B5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E41EE-1C8A-4882-9055-46F6904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64B34-F733-449A-903E-152B0435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OBJETIVO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BAD52-7439-49DE-BA6E-4EA2DB48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3544F-401A-47BB-94E2-01CDC8A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 estudo contribui em quatro frentes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6B23C-4D8B-4DB8-9FFD-3AB38BE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foco não é apenas uma arquitetura, mas o protocolo de avaliação e interpretação.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5AE2E-4935-4398-A21C-5F0B14E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6EAC1-03DD-4463-834D-6FD24A0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F301A-11B4-4374-8799-C907B107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F4EF-B7A0-41F1-B026-372E19C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08B4-285F-44E0-9D51-D03F23A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812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Avaliar ConvNeXt-Tiny na CRIC Cervix com separação por imagem-fonte.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50B7C-FC05-482E-B058-961E82C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595AA-3991-4C98-8D89-8831B6A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06FF3-0BE4-4266-8BF8-3323582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Analisar limiares operacionais de triagem.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E9E47-9DFD-48BB-94B8-716D09B1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A71E1-BC46-4CD5-9C47-9B834F6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2B198-8B1A-4C24-AB60-4BF31AF5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862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Comparar exploratoriamente com ResNet50 na partição retida.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86742-1F40-44E6-8B9D-0EDDA477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F8423-51A1-4040-A559-43F8E607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25256-A5BA-4091-BBAA-034535D5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Interpretar erros por categorias Bethesda.</a:t>
            </a:r>
          </a:p>
        </p:txBody>
      </p:sp>
    </p:spTree>
    <p:extLst>
      <p:ext uri="{BB962C8B-B14F-4D97-AF65-F5344CB8AC3E}">
        <p14:creationId xmlns:p14="http://schemas.microsoft.com/office/powerpoint/2010/main" val="11106215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8DDAA-AA6F-4061-8E20-D6A960D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F45E-46D4-4FE6-A3A5-D17DFA3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A232D-7B86-441F-925F-4A99E57F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B51EF-C4AD-4D2C-9D62-31A1ACF2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1418A-0585-4F97-B2F4-C96D402C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BB0DB-ADD5-48D0-817A-72CB1DD1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base CRIC Cervix sustenta a avaliação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88E5-A0CD-45FA-A180-65D54FCF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conjunto usado contém imagens convencionais e anotações celulares por citopatologistas.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B00FB-80D3-4A90-9394-E0F72A8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78DFF-171C-4326-8068-E7DAEDA7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CE863-6FA8-493C-9DB9-09260B7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4902F-EA1D-4CC5-A7BA-8D818249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4572E"/>
                </a:solidFill>
              </a:defRPr>
            </a:pPr>
            <a:r>
              <a:rPr sz="2775" b="1">
                <a:solidFill>
                  <a:srgbClr val="E4572E"/>
                </a:solidFill>
              </a:rPr>
              <a:t>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A77A2-47BF-4C61-B14A-83FE9D5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imagens de citologia convencional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2EF13-126C-4EC5-93AF-436A196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16870-C59B-4DB3-BFD1-C3FA9D06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11.534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66142-41A6-4656-8498-5B4A4936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anotações celulares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02882-5D56-4157-ADDB-22A41A8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04614-46DD-4C96-86DE-76FDF53E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6.779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204ED-0139-430E-943A-36CE516E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células normais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8DE13-EF15-41C1-A981-0DF8954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105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6FD3B-A42E-4A6F-B72F-367B2D2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033"/>
                </a:solidFill>
              </a:defRPr>
            </a:pPr>
            <a:r>
              <a:rPr sz="2775" b="1">
                <a:solidFill>
                  <a:srgbClr val="102033"/>
                </a:solidFill>
              </a:rPr>
              <a:t>4.755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CC1B4-BE4C-4641-A450-7581D00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células anormais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804C7-FDC7-4B64-8E15-51C0D01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9A13F-96D9-43D3-A1F3-B5D0660C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E73D2-D822-4696-93E3-CE90AEC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Como não há identificadores de paciente, a imagem-fonte é o maior nível de agrupamento disponível.</a:t>
            </a:r>
          </a:p>
        </p:txBody>
      </p:sp>
    </p:spTree>
    <p:extLst>
      <p:ext uri="{BB962C8B-B14F-4D97-AF65-F5344CB8AC3E}">
        <p14:creationId xmlns:p14="http://schemas.microsoft.com/office/powerpoint/2010/main" val="18298169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78559-DDE6-450C-9853-79AEBCD7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C4F40-C3D7-42A5-B82B-8783F2E6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400D4-1BE0-46FF-A808-28BF523A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0D7F9-42C1-483D-8FD8-B790D89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DB436-FE7E-4E90-A028-A915DF4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BC894-0563-439D-94A8-1D345E66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As categorias Bethesda foram preservadas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607DF-0050-4E01-B2D1-71641CA9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treinamento é binário, mas os subtipos anormais são usados para analisar erros.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8A9B9-E184-4ED0-A120-1D87789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0EF10-77BF-4F04-B12E-1C0DCC5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52500" y="2047875"/>
          <a:ext xmlns:a="http://schemas.openxmlformats.org/drawingml/2006/main" cx="74295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1cf5b74516427a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547B2-95A8-40C3-BF2A-F7BDFBB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E036F-F310-46B9-AA08-8E2B1856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E389D-470C-4AEC-B4F8-6927A77C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HSIL é a categoria anormal mais numerosa no conjunto completo.</a:t>
            </a:r>
          </a:p>
        </p:txBody>
      </p:sp>
    </p:spTree>
    <p:extLst>
      <p:ext uri="{BB962C8B-B14F-4D97-AF65-F5344CB8AC3E}">
        <p14:creationId xmlns:p14="http://schemas.microsoft.com/office/powerpoint/2010/main" val="13544430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C3168-8C0D-4F80-BB8E-E37F7AFC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9246B-0EA4-4DFF-9ADA-7EF732B0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90BCA-7524-4E01-B5C1-4C4D816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3D074-C869-4FA8-892F-A1F6F83A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8A7EC-A1F6-46F3-986D-789BE2B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F8A8D-0E7B-464E-B1DE-643BF8C3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simplificação binária organiza a triagem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F8C1D-00FC-47E3-A958-5943477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NILM forma a classe normal; ASC-US, LSIL, ASC-H, HSIL e SCC formam a classe anormal.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E9A22-385F-4FB2-801E-A3BC0DEE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200D-20A1-40EA-AE3A-9F0515DA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2459C-31BD-4CC0-8437-F0105175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381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C651A-AFDC-43D2-87FD-0260E443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33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C4DEF-90C8-472E-A6AC-340A051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NILM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BB85F-4894-434E-A7AE-BC444357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</a:defRPr>
            </a:pPr>
            <a:r>
              <a:rPr sz="1500" b="0">
                <a:solidFill>
                  <a:srgbClr val="5E6875"/>
                </a:solidFill>
              </a:rPr>
              <a:t>6.779 células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3DD05-B7CA-40BA-B60F-D8B79C4B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381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6C67E-A962-466D-AEA1-65CE306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33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4572E"/>
                </a:solidFill>
              </a:defRPr>
            </a:pPr>
            <a:r>
              <a:rPr sz="2550" b="1">
                <a:solidFill>
                  <a:srgbClr val="E4572E"/>
                </a:solidFill>
              </a:rPr>
              <a:t>Anormal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7EF04-DB3C-486F-AE6A-3BE55633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ASC-US + LSIL + ASC-H + HSIL + SCC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DAB97-1C3F-4399-96B3-98527F88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33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</a:defRPr>
            </a:pPr>
            <a:r>
              <a:rPr sz="1500" b="0">
                <a:solidFill>
                  <a:srgbClr val="5E6875"/>
                </a:solidFill>
              </a:rPr>
              <a:t>4.755 células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A5929-D039-4BAF-A260-857FE7D2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A7023-DAA6-46CF-8747-B1F74CF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10FCA-5CD0-49CD-A5F9-ED361D92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Essa definição é um primeiro estágio de priorização, não a classificação Bethesda completa.</a:t>
            </a:r>
          </a:p>
        </p:txBody>
      </p:sp>
    </p:spTree>
    <p:extLst>
      <p:ext uri="{BB962C8B-B14F-4D97-AF65-F5344CB8AC3E}">
        <p14:creationId xmlns:p14="http://schemas.microsoft.com/office/powerpoint/2010/main" val="2650673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776BD-5460-47DB-8849-DB8FD6A3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D17EF-71A5-45B3-9C97-88871451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11BB3-790A-4686-B9D3-808E5741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B6195-BA93-4442-8FFB-0E07880B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MÉTODO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37FAE-BC54-4B51-AF51-92B64678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3E7E7-E3A2-4790-BF35-BD36F421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pipeline transforma recortes em decisão operacional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A44DE-D297-44CF-9F01-D4582F1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fluxo vai da imagem convencional até a decisão normal/anormal por limiar.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88418-CB69-4764-8A7A-770FFEB3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7B7D5-CBF4-4D0E-B79D-564574A8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00B0F-0EEE-4501-B477-A34C2687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219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B28D2-78E4-4390-8D91-6F2DB142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Imagem CRIC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65D8A-6AB0-4F95-8EEB-DA453DD1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00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9CCCF-D9F2-4C36-89EE-3A2AAD97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52750"/>
            <a:ext cx="1409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63B3F-E969-43C0-97C9-8DA32B07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Recorte 224 x 224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7F576-3BD2-495C-893E-0FC0D68F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5399A-ACA2-4ED3-A3C0-86ACC0B0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77F87-4695-471E-A526-7B44E89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Normalização + aug. treino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179F5-0D32-43A3-99DF-55232C8A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00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665DB-BC92-4F3F-8FAF-61131C4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1409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E7EBC-2202-4DCD-8E12-085CC45A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ConvNeXt-Tiny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3830F-DE01-4333-89A9-EEE4C86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0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6C171-3F57-44B8-941A-FFD1B2F6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12001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0453C-EFD2-4981-BBA7-DF422742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04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P(anormal)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7B33D-4B66-432A-BEA6-1067542E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0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9A8E4-2F7D-4443-8989-7A51EE7E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1219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E4BC7-ED17-42C6-A121-B9610739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Limiar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1E3B6-2D90-45E3-8AB2-F3406E3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877B1-FB9A-4B13-9BA5-C65B025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5275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2DA94-DCF3-47C6-BCBB-A74C068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004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Normal/Anormal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7C845-863A-497F-84CE-1250DDE1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E4212-6A79-4142-9E49-CF9647E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B1C09-7FDC-4E8B-A35E-6BB287AF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Os aumentos de dados são aplicados durante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14086246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244F9A-4A16-4528-8025-14069C47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F3BB-C3B8-4240-A45D-E0CBBA9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D1530-4425-4C48-96A4-DDFC741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ADA8A-9AFD-4AFE-8916-77EE6A8A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MÉTODO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2F6AB-02D1-43FE-AEE0-3ECDD5A4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18E2E-17B2-402E-85DF-17F9059B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As partições respeitam a imagem original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58775-5392-4390-B0B7-CB9802F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Nenhuma imagem-fonte contribuiu com células para mais de uma partição.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D7AE4-1EE2-4AC7-B1A5-5AC75A78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083B0-D61E-461B-B1A4-7EEEDBD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08585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1700"/>
                <a:gridCol w="2171700"/>
                <a:gridCol w="2171700"/>
                <a:gridCol w="2171700"/>
                <a:gridCol w="21717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Partição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Imagens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Normal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Anormal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Treino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280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4.698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2.835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7.533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Validação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938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916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1.854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Teste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1.143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1.004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2.147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93309-44E3-4420-98A0-72929DF9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ECFEC-ADC6-4124-950C-38F18EA5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E1255-9874-4CAE-8936-D227FFC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O teste contém 2.147 células: 1.143 normais e 1.004 anormais.</a:t>
            </a:r>
          </a:p>
        </p:txBody>
      </p:sp>
    </p:spTree>
    <p:extLst>
      <p:ext uri="{BB962C8B-B14F-4D97-AF65-F5344CB8AC3E}">
        <p14:creationId xmlns:p14="http://schemas.microsoft.com/office/powerpoint/2010/main" val="15000079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2472F0-85E2-4081-A364-1FC84644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3BF4B-D2A9-4C33-8D77-09312AE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DA50E-1FD7-453B-80FF-05883B1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0A1A1-5F41-45B7-91F1-2D4ADC2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MÉTODO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DFE6-E322-4490-AC23-82BE657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948F1-716B-4E50-9640-A41E7E09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validação cruzada agrupada é o resultado primário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DF9DB-978F-489D-BF07-3519B5E6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modelo foi retreinado em cinco folds usando a imagem-fonte como grupo.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CC1D3-3AB7-491B-AC8A-7A3A0F4A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10833-EDBC-44C5-BB28-E1BED98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20BFF-168E-4089-95B6-AC2D390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FBFF7-A1CB-42E9-8FB7-3DEB9818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5 folds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62044-F253-4594-9639-6DE5BD37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DD38E-ABE9-4A09-A2E4-11AB92E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4A251-58B5-449C-A331-C253B23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Grupo: imagem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5A30D-AB6F-4F90-8E51-5440FCC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1BBB1-A4DA-4FAF-B267-2CA7D20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0A4CF-4BB3-4A1F-847B-91EC4C52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Limiar 0,50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75275-51AC-4B94-900E-79B99F0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8E29C-D0F0-4F96-99C9-BCCBFBBA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C939A-3D9A-4A8F-9496-799C907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Sem TTA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7C3D4-7C4D-4129-AC58-727B9BD2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8B04F-32AC-49E7-B78C-C43CBBB6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384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5E4FE-7AB7-4E47-B6DC-8F64745C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4572E"/>
                </a:solidFill>
              </a:defRPr>
            </a:pPr>
            <a:r>
              <a:rPr sz="1650" b="1">
                <a:solidFill>
                  <a:srgbClr val="E4572E"/>
                </a:solidFill>
              </a:rPr>
              <a:t>Retreino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48149-B9BB-47F2-8A6C-5007CF0E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F188A-384D-4911-BB1E-E1620D6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4E80E-3EAA-4F02-ABBA-F2B92735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Essa etapa mede robustez além da partição única.</a:t>
            </a:r>
          </a:p>
        </p:txBody>
      </p:sp>
    </p:spTree>
    <p:extLst>
      <p:ext uri="{BB962C8B-B14F-4D97-AF65-F5344CB8AC3E}">
        <p14:creationId xmlns:p14="http://schemas.microsoft.com/office/powerpoint/2010/main" val="1500198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2A64F0-45F7-424E-94D7-BF0EAFF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1DD0C-251E-4CB2-A5A5-20517CB1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645FD-B50F-4050-9BC7-822ED6B7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30060-33A0-40F3-8A08-EFF51DAA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MODELO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65002-778A-4980-A736-1AED40E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B7985-EA36-4DB5-B27A-8866161D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ConvNeXt-Tiny foi adaptada para duas saídas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D8D39-F4DB-4549-9D37-C711CCB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rede usa pré-treinamento na ImageNet e uma cabeça linear para normal/anormal.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182B2-C0EB-4C46-BA74-8F66228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0A5B2-8FEE-457E-ACFF-254EC78D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B2DFF-7DA2-45C0-8F53-C41F9879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77D69-668B-4254-83A7-1AC1E265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ConvNeXt-Tiny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D01C6-CD30-4810-BD03-AAF10FF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2DD"/>
                </a:solidFill>
              </a:defRPr>
            </a:pPr>
            <a:r>
              <a:rPr sz="1500" b="0">
                <a:solidFill>
                  <a:srgbClr val="C8D2DD"/>
                </a:solidFill>
              </a:rPr>
              <a:t>Imagem 224 x 224  →  duas saídas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B81F2-A51C-43AA-8A0E-13284925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Normal / Anormal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D4BAF-F143-40A1-AA35-770B5FE2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8A7A1-7FD5-47BB-9091-24C132EB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572E"/>
                </a:solidFill>
              </a:defRPr>
            </a:pPr>
            <a:r>
              <a:rPr sz="1875" b="1">
                <a:solidFill>
                  <a:srgbClr val="E4572E"/>
                </a:solidFill>
              </a:rPr>
              <a:t>ImageNet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5AC40-0674-41EA-9E79-07DAE6B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5"/>
                </a:solidFill>
              </a:defRPr>
            </a:pPr>
            <a:r>
              <a:rPr sz="1050" b="0">
                <a:solidFill>
                  <a:srgbClr val="5E6875"/>
                </a:solidFill>
              </a:rPr>
              <a:t>pré-treinamento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29834-BC89-487D-8400-C4F18373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CE296-6E29-4228-9639-43B1AABD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2 saídas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162CF-C578-49D1-BDB0-F5F6FE8F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5"/>
                </a:solidFill>
              </a:defRPr>
            </a:pPr>
            <a:r>
              <a:rPr sz="1050" b="0">
                <a:solidFill>
                  <a:srgbClr val="5E6875"/>
                </a:solidFill>
              </a:rPr>
              <a:t>cabeça linear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7469A-8545-490D-8857-CA17BEE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6B12A-9F94-4602-B982-70CE90F4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27,82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875FA-9FF3-4199-82D4-42136D49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5"/>
                </a:solidFill>
              </a:defRPr>
            </a:pPr>
            <a:r>
              <a:rPr sz="1050" b="0">
                <a:solidFill>
                  <a:srgbClr val="5E6875"/>
                </a:solidFill>
              </a:rPr>
              <a:t>parâmetros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CB2FF-9E1C-4366-AA1D-CE47F89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37129-3E8D-4769-A70C-4544D7B3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4,46 GFLOPs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820C4-7B37-41B9-94FA-0233C316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5"/>
                </a:solidFill>
              </a:defRPr>
            </a:pPr>
            <a:r>
              <a:rPr sz="1050" b="0">
                <a:solidFill>
                  <a:srgbClr val="5E6875"/>
                </a:solidFill>
              </a:rPr>
              <a:t>entrada 224 x 224</a:t>
            </a:r>
          </a:p>
        </p:txBody>
      </p:sp>
    </p:spTree>
    <p:extLst>
      <p:ext uri="{BB962C8B-B14F-4D97-AF65-F5344CB8AC3E}">
        <p14:creationId xmlns:p14="http://schemas.microsoft.com/office/powerpoint/2010/main" val="118605546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E0B97-AD67-439D-9D2B-99DF83E4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771AC-163A-4EE5-B059-FBE5FA5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0AA64-4089-4199-8F57-41F485F2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FF2F8-C612-4AEA-9966-BE7C2B62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MODELO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A75B7-DC4A-4DC0-B440-363A80EB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08A58-7D5C-4BB2-8B0D-CAB3B660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 treinamento foi curto e explicitamente configurado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BF79-ED76-43F6-890C-B39AF16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configuração local priorizou reprodutibilidade e seleção por AUC ROC de validação.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4C30-C939-4689-A66C-EE8B837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54061-31DF-4E21-B896-96582F9B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C6674-8020-4C40-BF57-3FFBE64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1A558-EBDD-4409-83EF-03C5B2C9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AdamW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7DAF8-8D46-4769-A4AC-0CE24226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812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Taxa inicial 3e-4 e decaimento 1e-4.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E494F-FE08-42DF-A173-8BC511C5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1766D-2109-4766-9145-CF63AAB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Entrada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7DA31-66F1-4952-82D9-34C184D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Recortes RGB de 224 x 224 x 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EE157-4A29-4060-B722-8504453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2C18F-79DA-4D78-8155-392BE1A9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Treino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1ED4F-2B0A-4048-A6E0-CC9D7FAF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862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Lote 48, máximo de 12 épocas e aumentos leves.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3CC68-6576-4BC1-8151-69F76A1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9C8EC-9B1B-41E1-90D9-49A4824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Seleção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AE3B3-1F55-405C-AEDF-2671D18C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Melhor checkpoint por AUC ROC na validação.</a:t>
            </a:r>
          </a:p>
        </p:txBody>
      </p:sp>
    </p:spTree>
    <p:extLst>
      <p:ext uri="{BB962C8B-B14F-4D97-AF65-F5344CB8AC3E}">
        <p14:creationId xmlns:p14="http://schemas.microsoft.com/office/powerpoint/2010/main" val="179044482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9A3A5-F397-49ED-9829-C73B302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ACD59-58EE-4469-8523-3D1ABEE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D72AF-90E2-4D4A-B43B-FC0D0848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4FD32-37EB-482C-92C2-26AE90A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1E14F-D2DE-4456-8F71-9676222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108F2-5065-4936-9576-1A96BBA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 resultado primário mostra forte ranqueamento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4DA3A-4344-4E54-BE05-41CBD0E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Na validação cruzada agrupada, a ConvNeXt-Tiny manteve AUCs altas com baixa variação.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54F2-72A1-4B67-8B2A-FEFC8138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420EA-9316-44FA-9384-F50DB4F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1628C-0335-486D-9C67-921CDFF5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105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F4567-2ECA-47D4-85FF-8C1F5FFE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572E"/>
                </a:solidFill>
              </a:defRPr>
            </a:pPr>
            <a:r>
              <a:rPr sz="2025" b="1">
                <a:solidFill>
                  <a:srgbClr val="E4572E"/>
                </a:solidFill>
              </a:rPr>
              <a:t>0,9709 ± 0,0059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C6C4D-A6CB-4284-B5E6-BCF7CAC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AUC ROC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73181-E8FC-48CC-B148-D3F0F713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105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D5D4F-8D3A-4211-853F-A02629B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0,9607 ± 0,0121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F67CD-F1EF-4621-AEEB-C870BE3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AUC 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12D02-5997-4BFC-AB45-9ECAF111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3105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075AB-0576-4531-8FF7-B5F9A24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0,9091 ± 0,0115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58902-1586-4E82-BEB7-0EEE5331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Acc. balanceada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988C8-7603-436C-8B58-006B8F9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105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52E4F-818D-4C95-B3E7-F21F5C52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0,8994 ± 0,0480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AD60B-93C6-4C7C-ADFF-766B36C0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Sensibilidade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D60EE-DF98-4BC2-904A-D2BB9141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3105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07F0F-148D-4A92-BFA5-5434B4D9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</a:defRPr>
            </a:pPr>
            <a:r>
              <a:rPr sz="2025" b="1">
                <a:solidFill>
                  <a:srgbClr val="102033"/>
                </a:solidFill>
              </a:rPr>
              <a:t>0,9188 ± 0,0400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5CF8C-34A5-4730-A81C-9065FF8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</a:defRPr>
            </a:pPr>
            <a:r>
              <a:rPr sz="1200" b="0">
                <a:solidFill>
                  <a:srgbClr val="5E6875"/>
                </a:solidFill>
              </a:rPr>
              <a:t>Especificidade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51A84-1C77-485F-BD3B-07B1C4E9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E84A67-B565-4CCA-B4B1-F7F2EF4E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793F25-ACFB-4F3B-AE07-1BE5FD2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AUC alta indica bom ranqueamento, mas a decisão final depende do limiar.</a:t>
            </a:r>
          </a:p>
        </p:txBody>
      </p:sp>
    </p:spTree>
    <p:extLst>
      <p:ext uri="{BB962C8B-B14F-4D97-AF65-F5344CB8AC3E}">
        <p14:creationId xmlns:p14="http://schemas.microsoft.com/office/powerpoint/2010/main" val="13075703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B3296-CEA9-4FB3-8003-3A50633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3CA87-C1F6-4F41-827F-2F472CE3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95C2F-90F8-4245-BE1D-17C17D5F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2960C-D846-43DB-B64A-6472EFF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2848E-66BC-4E35-A530-0D786777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F8843-F325-4C87-9027-67585BD7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 variação aparece nas métricas dependentes do limiar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03A7E-6A48-4550-9B42-3C53165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composição do fold e o limiar operacional influenciam sensibilidade e especificidade.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1822-23B0-4554-9B7C-D13A38B3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6B19A-9248-44B3-B2DE-F4B66957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76300" y="2076450"/>
          <a:ext xmlns:a="http://schemas.openxmlformats.org/drawingml/2006/main" cx="6858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facaaa2ef4455a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B163D-E22F-479E-9DE1-57DC92AF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781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E1793-45ED-44D6-8247-92D61F30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Interpretação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BE089-8F95-444B-8993-34B4E39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152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AUC alta não basta. O uso em triagem depende do ponto de decisão e da composição do fold.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D8841-A6DB-4ADF-8B7A-CDD5AE42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03DDC-3DCD-46FF-AA7B-4881AF5E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F2D1C-FE76-4229-A682-922A172D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No fold 1, a sensibilidade caiu para 0,8253 enquanto a especificidade chegou a 0,9681.</a:t>
            </a:r>
          </a:p>
        </p:txBody>
      </p:sp>
    </p:spTree>
    <p:extLst>
      <p:ext uri="{BB962C8B-B14F-4D97-AF65-F5344CB8AC3E}">
        <p14:creationId xmlns:p14="http://schemas.microsoft.com/office/powerpoint/2010/main" val="118027052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272CD7-E548-4425-AAF8-9EAD267B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2225-B38C-4AFE-A3A2-779318CC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F784-F1ED-4D89-8C01-9DFA2A55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8382-F3C1-4A18-9619-20A8C2A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7838-14CD-4A13-BDF6-F3835A8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09210-9720-4DFB-BDD5-B73DFEE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O limiar operacional muda o tipo de erro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3AE29-9712-40D1-825C-6E908580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Ao reduzir o limiar, falsos negativos caem, mas falsos positivos sobem.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AF04F-04F4-4A21-8939-D0AB5D67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1A7E-DD1E-43CA-A7D6-6D3C03C2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57313"/>
                <a:gridCol w="1357313"/>
                <a:gridCol w="1357313"/>
                <a:gridCol w="1357313"/>
                <a:gridCol w="1357313"/>
                <a:gridCol w="1357313"/>
                <a:gridCol w="1357313"/>
                <a:gridCol w="1357313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Regime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Limiar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TN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Sens.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Espec.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1079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944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0,9402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0,9440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Youden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0,287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1061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956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0,9522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0,9283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Alta sens.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0,099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997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146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974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0,9701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33"/>
                          </a:solidFill>
                        </a:rPr>
                        <a:t>0,8723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0854E-F96F-4060-A63B-EDCD0C42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789F4-EEC6-4481-9B47-CA8B52C5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8DDB7-EBC6-4C2A-8287-6E3727CB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No regime de alta sensibilidade, FN caem de 60 para 30; FP sobem de 64 para 146.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85502-E6DD-4C27-97EE-A746DC35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86300"/>
            <a:ext cx="3543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6133C-71CB-40BD-8BE6-32ABE41F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76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572E"/>
                </a:solidFill>
              </a:defRPr>
            </a:pPr>
            <a:r>
              <a:rPr sz="2100" b="1">
                <a:solidFill>
                  <a:srgbClr val="E4572E"/>
                </a:solidFill>
              </a:rPr>
              <a:t>FN: 60 → 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B0F0B-7883-48EC-8525-1387F197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35433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0B20B-CF9F-4546-9E25-9795837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FP: 64 → 146</a:t>
            </a:r>
          </a:p>
        </p:txBody>
      </p:sp>
    </p:spTree>
    <p:extLst>
      <p:ext uri="{BB962C8B-B14F-4D97-AF65-F5344CB8AC3E}">
        <p14:creationId xmlns:p14="http://schemas.microsoft.com/office/powerpoint/2010/main" val="119606645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ACE1B5-EC59-482D-A2E8-0655D6C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B49E2-2755-4C90-9A0A-C27A3FF1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54BBF-CC6C-44B1-858D-165B7B6C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4CC03-9DCB-43C3-B094-B5072407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ED403-C95B-42EF-A357-04A7AD8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F8E11-C1E8-4B06-935A-AF9910C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ConvNeXt-Tiny ranqueou melhor que ResNet50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C5054-18D4-45AD-9B73-E14D702C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comparação na partição retida foi exploratória e não deve ser lida como vitória absoluta.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AE8C8-6E0E-4626-BB27-388739C5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42F21-4176-4524-A750-973559DC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0858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51214"/>
                <a:gridCol w="1551214"/>
                <a:gridCol w="1551214"/>
                <a:gridCol w="1551214"/>
                <a:gridCol w="1551214"/>
                <a:gridCol w="1551214"/>
                <a:gridCol w="1551214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AUC ROC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AUC PR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Acc. bal.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Sens.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Espec.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 marL="91440" marR="91440" marT="45720" marB="45720">
                    <a:solidFill>
                      <a:srgbClr val="1020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ConvNeXt-Tiny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0,9816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0,9805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0,9371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0,9373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0,9370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0,8738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ResNet50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0,9710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0,9750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0,9401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0,9064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0,9738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02033"/>
                          </a:solidFill>
                        </a:rPr>
                        <a:t>0,8852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A449C-0319-4AD1-B91D-A577585F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828BE-DF24-4C34-9734-7120879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BBC68-2E99-4449-A6EF-3181632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 ResNet50 foi competitiva e teve maior especificidade, acurácia balanceada e MCC no limiar avaliado.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2A001-1827-417C-8E06-3064B4B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8191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AD0FE-2CBB-4557-8A5C-4CA43589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767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 ResNet50 foi competitiva e teve maior especificidade, acurácia balanceada e MCC no limiar avaliado.</a:t>
            </a:r>
          </a:p>
        </p:txBody>
      </p:sp>
    </p:spTree>
    <p:extLst>
      <p:ext uri="{BB962C8B-B14F-4D97-AF65-F5344CB8AC3E}">
        <p14:creationId xmlns:p14="http://schemas.microsoft.com/office/powerpoint/2010/main" val="14556673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2BCEA-0FCE-412E-BA9C-D625299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9817-C960-4AB2-8F11-FBF78053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E25A9-C92A-4B26-BD0C-AD877299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DD788-36C0-40C2-8A2B-2A84FA66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61736-2C17-4059-AE84-68D821B6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0485B-9D13-40B2-8C67-0FB64B74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ASC-US foi a categoria mais difícil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5D237-03A4-4CF3-B158-CCDF7D23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A análise por Bethesda mostra onde a simplificação binária ainda falha.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97D2F-152E-4FA9-BE6F-73891B7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6003D-99AA-44D5-A621-1CF5D80D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00100" y="2095500"/>
          <a:ext xmlns:a="http://schemas.openxmlformats.org/drawingml/2006/main" cx="77152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991d26da49417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F85C3-8911-4417-8EB3-3594A62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A33B5-3A4D-4A3C-A90B-F8A1B66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</a:defRPr>
            </a:pPr>
            <a:r>
              <a:rPr sz="2250" b="1">
                <a:solidFill>
                  <a:srgbClr val="E4572E"/>
                </a:solidFill>
              </a:rPr>
              <a:t>ASC-US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8419-44CF-4A55-A8C9-B5DCF5C6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81,7% de acerto</a:t>
            </a:r>
          </a:p>
          <a:p xmlns:a="http://schemas.openxmlformats.org/drawingml/2006/main">
            <a:pPr algn="ctr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115 células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A0721-3A00-4FA7-8CE7-B2D35956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95875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618AB-19C4-4705-884E-9D52997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38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572E"/>
                </a:solidFill>
              </a:defRPr>
            </a:pPr>
            <a:r>
              <a:rPr sz="825" b="1">
                <a:solidFill>
                  <a:srgbClr val="E4572E"/>
                </a:solidFill>
              </a:rPr>
              <a:t>LEITURA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262E1-1D2A-4636-94FC-1E24F23B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292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</a:defRPr>
            </a:pPr>
            <a:r>
              <a:rPr sz="1200" b="0">
                <a:solidFill>
                  <a:srgbClr val="102033"/>
                </a:solidFill>
              </a:rPr>
              <a:t>ASC-US teve 81,7% de acerto entre 115 células; SCC teve suporte reduzido, com 42 células.</a:t>
            </a:r>
          </a:p>
        </p:txBody>
      </p:sp>
    </p:spTree>
    <p:extLst>
      <p:ext uri="{BB962C8B-B14F-4D97-AF65-F5344CB8AC3E}">
        <p14:creationId xmlns:p14="http://schemas.microsoft.com/office/powerpoint/2010/main" val="10865006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936CC-37D7-463C-9DEE-1C8FC2D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40782-927B-45A4-8C8D-0362A95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DBC68-7584-446B-81D1-2EB1054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7BB74-F221-4C26-A850-E426A524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FECHAMENTO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DA0C2-E893-4817-A654-B2BE85A1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47776-BC02-4A33-98FD-A025834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</a:rPr>
              <a:t>Conclusão: bom potencial, com limites claros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D02B-8E26-4108-ACA7-67AC79DB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</a:defRPr>
            </a:pPr>
            <a:r>
              <a:rPr sz="1425" b="0">
                <a:solidFill>
                  <a:srgbClr val="5E6875"/>
                </a:solidFill>
              </a:rPr>
              <a:t>O método é um protótipo de pesquisa para priorização, sem finalidade diagnóstica.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D0FB6-A666-4892-ACE0-E53139B4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E7EB9-84E0-4DC2-A442-E2C6F35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875"/>
                </a:solidFill>
              </a:defRPr>
            </a:pPr>
            <a:r>
              <a:rPr sz="825" b="0">
                <a:solidFill>
                  <a:srgbClr val="5E6875"/>
                </a:solidFill>
              </a:rPr>
              <a:t>Triagem binária de células cervicais | ConvNeXt-Tiny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DD35A-11FE-4767-B437-E9A0EC72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385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C7CAE-3AD8-408F-98F7-8FC3E74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Limitações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2FF8C-0E10-45F5-B029-1DB88A3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Sem identificadores de paciente; comparação ResNet50 restrita à partição retida; sem validação externa.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5D63C-DAE2-4EF3-AC84-890F5F3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32385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1F61A-228D-4E59-A9AF-D9E3BB90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Futuro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D57F1-992F-4A47-BF02-CBEC0F72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Repetir baselines nos cinco folds, validar em outras bases, incluir explicabilidade e avançar para nível da lâmina.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EA588-6114-4311-98CE-EBFDF2EF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2385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E457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0D3B7-0C5C-4165-9361-790B89E9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572E"/>
                </a:solidFill>
              </a:defRPr>
            </a:pPr>
            <a:r>
              <a:rPr sz="1875" b="1">
                <a:solidFill>
                  <a:srgbClr val="E4572E"/>
                </a:solidFill>
              </a:rPr>
              <a:t>Mensagem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6344D-3EAD-4F3D-B599-FB4A41C6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A triagem por ConvNeXt-Tiny é promissora quando combinada com limiar operacional e revisão humana.</a:t>
            </a:r>
          </a:p>
        </p:txBody>
      </p:sp>
    </p:spTree>
    <p:extLst>
      <p:ext uri="{BB962C8B-B14F-4D97-AF65-F5344CB8AC3E}">
        <p14:creationId xmlns:p14="http://schemas.microsoft.com/office/powerpoint/2010/main" val="749809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2026-06-27T23:17:40.9130000Z</dcterms:created>
  <dcterms:modified xsi:type="dcterms:W3CDTF">2026-06-27T23:17:40.9130000Z</dcterms:modified>
</coreProperties>
</file>